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1480207"/>
            <a:ext cx="3028950" cy="218308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480207"/>
            <a:ext cx="57150" cy="2183085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2"/>
          <p:cNvSpPr/>
          <p:nvPr/>
        </p:nvSpPr>
        <p:spPr>
          <a:xfrm>
            <a:off x="800100" y="1480207"/>
            <a:ext cx="2800350" cy="201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UMS </a:t>
            </a:r>
            <a:r>
              <a:rPr lang="en-US" sz="3300" b="1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2026</a:t>
            </a:r>
            <a:r>
              <a:rPr lang="en-US" sz="33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3300" b="1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University</a:t>
            </a:r>
            <a:r>
              <a:rPr lang="en-US" sz="33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3300" b="1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Management</a:t>
            </a:r>
            <a:r>
              <a:rPr lang="en-US" sz="33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3300" b="1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System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3886200" y="1469492"/>
            <a:ext cx="468630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A Modern Desktop Application for University Administration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886200" y="2545296"/>
            <a:ext cx="46863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82F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with C# Windows Forms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886200" y="2827474"/>
            <a:ext cx="46863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82F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SQL Server Database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886200" y="3109652"/>
            <a:ext cx="46863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82F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Entity Framework ORM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886200" y="3391830"/>
            <a:ext cx="46863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82F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.NET Framework 4.7.2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3057525" cy="188583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Centralizes University Operations into One Integrated Platform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2685938"/>
            <a:ext cx="3057525" cy="1600200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UMS 2026 is a comprehensive desktop-based University Management System designed to streamline the day-to-day administrative operations of a university — from managing students and instructors to scheduling classes and generating analytical reports.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771900" y="750094"/>
            <a:ext cx="38140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324759" y="750094"/>
            <a:ext cx="2303859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Platform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24759" y="1003697"/>
            <a:ext cx="23038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Windows Desktop Application (.exe)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771900" y="1553766"/>
            <a:ext cx="28742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4230774" y="1553766"/>
            <a:ext cx="448460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30774" y="1807369"/>
            <a:ext cx="448460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C# (.NET 4.7.2), Windows Forms, SQL Server (sqlexpress), Entity Framework, MaterialSkin UI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771900" y="2557463"/>
            <a:ext cx="38140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4324759" y="2557463"/>
            <a:ext cx="1448033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Application Name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24759" y="2811066"/>
            <a:ext cx="144803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UMS2026.exe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771900" y="3361134"/>
            <a:ext cx="38140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</a:t>
            </a:r>
            <a:endParaRPr lang="en-US" sz="2450" dirty="0"/>
          </a:p>
        </p:txBody>
      </p:sp>
      <p:sp>
        <p:nvSpPr>
          <p:cNvPr id="15" name="Text 12"/>
          <p:cNvSpPr/>
          <p:nvPr/>
        </p:nvSpPr>
        <p:spPr>
          <a:xfrm>
            <a:off x="4324759" y="3361134"/>
            <a:ext cx="166985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324759" y="3614738"/>
            <a:ext cx="166985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University Administrators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14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3057525" cy="188583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Three-Tier Architecture Ensures Clean Separation of Concerns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2685938"/>
            <a:ext cx="3057525" cy="1143000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UMS 2026 follows a classic three-tier architecture that separates the user interface, business logic, and data access layers, ensuring maintainability and scalability.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28625" y="4000388"/>
            <a:ext cx="3057525" cy="1143000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The Entity Data Model (UniversityModel.edmx) maps all database tables to C# classes, enabling strongly-typed data access throughout the application.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771900" y="1510847"/>
            <a:ext cx="1219042" cy="432197"/>
          </a:xfrm>
          <a:prstGeom prst="rect">
            <a:avLst/>
          </a:prstGeom>
          <a:noFill/>
          <a:ln/>
        </p:spPr>
        <p:txBody>
          <a:bodyPr wrap="none" lIns="204089" tIns="136017" rIns="20408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Layer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990942" y="1510847"/>
            <a:ext cx="1823721" cy="432197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14663" y="1510847"/>
            <a:ext cx="1900712" cy="432197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Responsibility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771900" y="1943044"/>
            <a:ext cx="1219042" cy="735806"/>
          </a:xfrm>
          <a:prstGeom prst="rect">
            <a:avLst/>
          </a:prstGeom>
          <a:noFill/>
          <a:ln/>
        </p:spPr>
        <p:txBody>
          <a:bodyPr wrap="none" lIns="204089" tIns="204089" rIns="204089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990942" y="1943044"/>
            <a:ext cx="1823721" cy="735806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C# Windows Forms + MaterialSkin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14663" y="1943044"/>
            <a:ext cx="1900712" cy="735806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UI rendering, user interaction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771900" y="2678850"/>
            <a:ext cx="1219042" cy="732234"/>
          </a:xfrm>
          <a:prstGeom prst="rect">
            <a:avLst/>
          </a:prstGeom>
          <a:noFill/>
          <a:ln/>
        </p:spPr>
        <p:txBody>
          <a:bodyPr wrap="none" lIns="204089" tIns="204089" rIns="204089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Business Logic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90942" y="2678850"/>
            <a:ext cx="1823721" cy="732234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C# Classes (.cs files)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14663" y="2678850"/>
            <a:ext cx="1900712" cy="732234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Data validation, operations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771900" y="3411085"/>
            <a:ext cx="1219042" cy="732234"/>
          </a:xfrm>
          <a:prstGeom prst="rect">
            <a:avLst/>
          </a:prstGeom>
          <a:noFill/>
          <a:ln/>
        </p:spPr>
        <p:txBody>
          <a:bodyPr wrap="none" lIns="204089" tIns="204089" rIns="204089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Data Access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990942" y="3411085"/>
            <a:ext cx="1823721" cy="732234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Entity Framework + SQL Server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814663" y="3411085"/>
            <a:ext cx="1900712" cy="732234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Database queries, ORM mapping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3057525" cy="150867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Nine Interconnected Entities Form the Core Data Model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2308771"/>
            <a:ext cx="3057525" cy="1371600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The system's database is built around nine core entities that reflect a real-world university structure. These entities are mapped via Entity Framework and connected through well-defined relationships.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771900" y="692944"/>
            <a:ext cx="235743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STUDENT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771900" y="885825"/>
            <a:ext cx="23574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Fields: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ID, name, dept_name, tot_cred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
</a:t>
            </a:r>
            <a:r>
              <a:rPr lang="en-US" sz="700" b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Links: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Dept, Advisor, Takes courses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357938" y="692944"/>
            <a:ext cx="235743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INSTRUCTOR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357938" y="885825"/>
            <a:ext cx="23574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Fields: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ID, name, dept_name, salary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
</a:t>
            </a:r>
            <a:r>
              <a:rPr lang="en-US" sz="700" b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Links: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Dept, Advises, Teaches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771900" y="1401570"/>
            <a:ext cx="235743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71900" y="1594452"/>
            <a:ext cx="23574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Fields: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dept_name, building, budget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
</a:t>
            </a:r>
            <a:r>
              <a:rPr lang="en-US" sz="700" b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Links: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Courses, Instructors, Students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357938" y="1401570"/>
            <a:ext cx="235743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COURSE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57938" y="1594452"/>
            <a:ext cx="23574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Fields: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course_id, title, credits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
</a:t>
            </a:r>
            <a:r>
              <a:rPr lang="en-US" sz="700" b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Links: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Dept, Sections, Prerequisites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771900" y="2110197"/>
            <a:ext cx="235743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SECTION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771900" y="2303078"/>
            <a:ext cx="23574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Fields: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sec_id, semester, year, room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
</a:t>
            </a:r>
            <a:r>
              <a:rPr lang="en-US" sz="700" b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Links: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Course, Classroom, Time Slot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357938" y="2110197"/>
            <a:ext cx="235743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ENROLLMENT (TAKE)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57938" y="2303078"/>
            <a:ext cx="23574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Fields: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student ID, course/sec, grade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
</a:t>
            </a:r>
            <a:r>
              <a:rPr lang="en-US" sz="700" b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Links: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Student to Section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771900" y="2818823"/>
            <a:ext cx="235743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CLASSROOM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771900" y="3011705"/>
            <a:ext cx="23574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Fields: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building, room_number, capacity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
</a:t>
            </a:r>
            <a:r>
              <a:rPr lang="en-US" sz="700" b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Links: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Hosts Sections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357938" y="2818823"/>
            <a:ext cx="235743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TIME SLOT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57938" y="3011705"/>
            <a:ext cx="23574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Fields: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time_slot_id, day, start/end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
</a:t>
            </a:r>
            <a:r>
              <a:rPr lang="en-US" sz="700" b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Links: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Assigned to Sections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771900" y="3527450"/>
            <a:ext cx="235743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USER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771900" y="3720331"/>
            <a:ext cx="23574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Fields: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ID, Username, Password, role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
</a:t>
            </a:r>
            <a:r>
              <a:rPr lang="en-US" sz="700" b="1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Links:</a:t>
            </a:r>
            <a:r>
              <a:rPr lang="en-US" sz="750" dirty="0">
                <a:solidFill>
                  <a:srgbClr val="082F49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Authentication &amp; Access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3057525" cy="754363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6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Eight Functional Modules Cover Every Aspect of University Administration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7225" y="1554463"/>
            <a:ext cx="2828925" cy="262533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Student &amp; Instructor</a:t>
            </a:r>
            <a:r>
              <a:rPr lang="en-US" sz="7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— Full profile management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57225" y="1816996"/>
            <a:ext cx="2828925" cy="255389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Departments</a:t>
            </a:r>
            <a:r>
              <a:rPr lang="en-US" sz="7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— Budget &amp; building tracking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57225" y="2072385"/>
            <a:ext cx="2828925" cy="255389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Course Catalog</a:t>
            </a:r>
            <a:r>
              <a:rPr lang="en-US" sz="7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— Credits &amp; dept assignment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57225" y="2327774"/>
            <a:ext cx="2828925" cy="255389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Enrollment</a:t>
            </a:r>
            <a:r>
              <a:rPr lang="en-US" sz="7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— Course registration &amp; grading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57225" y="2583163"/>
            <a:ext cx="2828925" cy="255389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Scheduling</a:t>
            </a:r>
            <a:r>
              <a:rPr lang="en-US" sz="7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— Time slot &amp; room allocation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57225" y="2838552"/>
            <a:ext cx="2828925" cy="255389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Analytics</a:t>
            </a:r>
            <a:r>
              <a:rPr lang="en-US" sz="7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— Visual reporting &amp; charts</a:t>
            </a:r>
            <a:endParaRPr lang="en-US" sz="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891406"/>
            <a:ext cx="2428875" cy="14479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38247" y="2367930"/>
            <a:ext cx="69615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INSTRUCTORS</a:t>
            </a:r>
            <a:endParaRPr lang="en-US" sz="6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879881"/>
            <a:ext cx="2428875" cy="14709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95738" y="2379455"/>
            <a:ext cx="724700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DEPARTMENTS</a:t>
            </a:r>
            <a:endParaRPr lang="en-US" sz="6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3235226"/>
            <a:ext cx="2428875" cy="1475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49366" y="4738985"/>
            <a:ext cx="47394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COURSES</a:t>
            </a:r>
            <a:endParaRPr lang="en-US" sz="6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3232072"/>
            <a:ext cx="2428875" cy="148146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224731" y="4742111"/>
            <a:ext cx="66671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1" kern="0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ENROLLMENT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3057525" cy="150867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Secure Role-Based Login Guards All System Access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2308771"/>
            <a:ext cx="3057525" cy="914400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The application launches with a modern login screen that authenticates users against the database before granting access to the Admin Dashboard.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771900" y="721519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229100" y="721519"/>
            <a:ext cx="44862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Database Validation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229100" y="932259"/>
            <a:ext cx="44862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Credentials (username and password) are validated against the user table in SQL Server.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771900" y="1585187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229100" y="1585187"/>
            <a:ext cx="44862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Password Masking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29100" y="1795928"/>
            <a:ext cx="44862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Password field uses bullet-character masking for security (PasswordChar = '●').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771900" y="2448855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229100" y="2448855"/>
            <a:ext cx="44862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29100" y="2659596"/>
            <a:ext cx="44862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Role field in the user entity supports future expansion for multi-role access (e.g., admin, faculty, registrar).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771900" y="3312523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229100" y="3312523"/>
            <a:ext cx="44862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UI Design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229100" y="3523264"/>
            <a:ext cx="44862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Login form features a centered card design on a deep navy background (800×500 px).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771900" y="4176192"/>
            <a:ext cx="28605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229407" y="4176192"/>
            <a:ext cx="423445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Error Handling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229407" y="4386932"/>
            <a:ext cx="423445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Failed logins display appropriate error messages via MessageBox dialogs.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3057525" cy="12573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0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Dashboard Organizes All Modules in a Clean 2×4 Grid Layout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28625" y="2057400"/>
            <a:ext cx="3057525" cy="822871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The Admin Dashboard (AdminForm) serves as the central navigation hub of the application. It presents all eight management modules as large, color-coded buttons arranged in a 2×4 grid.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28625" y="3051721"/>
            <a:ext cx="3057525" cy="617153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Each button features hover effects and a hand cursor for intuitive interaction, with semantic colors guiding the user's workflow.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325" y="1258723"/>
            <a:ext cx="5000625" cy="28296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43325" y="4231249"/>
            <a:ext cx="5000625" cy="225028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spc="2" kern="0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FIGURE 1: UMS 2026 ADMIN DASHBOARD UI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3057525" cy="84862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All Data Forms Follow a Consistent, Intuitive CRUD Layout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57225" y="1648727"/>
            <a:ext cx="2828925" cy="337542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Header Panel</a:t>
            </a: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— Dark navy bar with form title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57225" y="1986269"/>
            <a:ext cx="2828925" cy="330398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Action Bar</a:t>
            </a: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— LOAD, ADD, UPDATE, DELETE, BACK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7225" y="2316668"/>
            <a:ext cx="2828925" cy="330398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Input Fields</a:t>
            </a: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— Horizontal row for quick entry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7225" y="2647066"/>
            <a:ext cx="2828925" cy="330398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DataGridView</a:t>
            </a: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— Tabular display of records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325" y="1095533"/>
            <a:ext cx="5000625" cy="30238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43325" y="4262279"/>
            <a:ext cx="5000625" cy="357188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spc="2" kern="0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FIGURE 2: STANDARDIZED DATA MANAGEMENT FORM (STUDENT MODULE)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3057525" cy="1131503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Scheduling Module Proactively Detects Time Slot Conflicts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57225" y="1931603"/>
            <a:ext cx="2828925" cy="337542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Conflict Check Button</a:t>
            </a: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— Triggers overlap validation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57225" y="2269145"/>
            <a:ext cx="2828925" cy="330398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Interval Logic</a:t>
            </a: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— SQL-based time range comparison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7225" y="2599544"/>
            <a:ext cx="2828925" cy="330398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Real-time Feedback</a:t>
            </a: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— Immediate MessageBox alerts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7225" y="2929942"/>
            <a:ext cx="2828925" cy="330398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Grid Integration</a:t>
            </a: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— Direct editing from tabular view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325" y="1174561"/>
            <a:ext cx="5000625" cy="29979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43325" y="4315411"/>
            <a:ext cx="5000625" cy="225028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spc="2" kern="0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FIGURE 3: SCHEDULING &amp; CONFLICT DETECTION INTERFACE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3057525" cy="84862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Built-In Analytics Deliver Visual Insights on University Data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57225" y="1648727"/>
            <a:ext cx="2828925" cy="337542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Dynamic Charts</a:t>
            </a: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— Real-time visual data breakdown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57225" y="1986269"/>
            <a:ext cx="2828925" cy="482203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Department Analytics</a:t>
            </a: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— Student distribution via Pie charts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7225" y="2468473"/>
            <a:ext cx="2828925" cy="330398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Tabular Integration</a:t>
            </a: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— Combined chart and grid views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7225" y="2798871"/>
            <a:ext cx="2828925" cy="482203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Multiple Views</a:t>
            </a: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— Support for Students, Courses, and Enrollment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325" y="1049378"/>
            <a:ext cx="5000625" cy="32483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43325" y="4440566"/>
            <a:ext cx="5000625" cy="225028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spc="2" kern="0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FIGURE 4: DYNAMIC REPORTING &amp; VISUAL ANALYTICS MODULE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3057525" cy="188583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 Modern Enterprise Design System Ensures Visual Consistency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2685938"/>
            <a:ext cx="3057525" cy="1143000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The application follows a carefully defined design system documented in DESIGN_NOTES.md, ensuring a professional and consistent appearance across all forms.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771900" y="571500"/>
            <a:ext cx="1752758" cy="342900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Color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524658" y="571500"/>
            <a:ext cx="1226520" cy="342900"/>
          </a:xfrm>
          <a:prstGeom prst="rect">
            <a:avLst/>
          </a:prstGeom>
          <a:noFill/>
          <a:ln/>
        </p:spPr>
        <p:txBody>
          <a:bodyPr wrap="none" lIns="136017" tIns="102108" rIns="136017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RGB Value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751179" y="571500"/>
            <a:ext cx="1964196" cy="342900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Usage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143375" y="1055489"/>
            <a:ext cx="70516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Primary Blue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24658" y="914400"/>
            <a:ext cx="1226520" cy="410766"/>
          </a:xfrm>
          <a:prstGeom prst="rect">
            <a:avLst/>
          </a:prstGeom>
          <a:noFill/>
          <a:ln/>
        </p:spPr>
        <p:txBody>
          <a:bodyPr wrap="non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(30, 58, 95)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751179" y="914400"/>
            <a:ext cx="1964196" cy="41076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Headers, primary actions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143375" y="1462683"/>
            <a:ext cx="86389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Secondary Blue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24658" y="1325166"/>
            <a:ext cx="1226520" cy="407194"/>
          </a:xfrm>
          <a:prstGeom prst="rect">
            <a:avLst/>
          </a:prstGeom>
          <a:noFill/>
          <a:ln/>
        </p:spPr>
        <p:txBody>
          <a:bodyPr wrap="non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(59, 130, 246)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751179" y="1325166"/>
            <a:ext cx="1964196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Secondary buttons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143375" y="1869877"/>
            <a:ext cx="82599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Success Green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524658" y="1732359"/>
            <a:ext cx="1226520" cy="407194"/>
          </a:xfrm>
          <a:prstGeom prst="rect">
            <a:avLst/>
          </a:prstGeom>
          <a:noFill/>
          <a:ln/>
        </p:spPr>
        <p:txBody>
          <a:bodyPr wrap="non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(34, 197, 94)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751179" y="1732359"/>
            <a:ext cx="1964196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ADD, Enrollment actions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143375" y="2277070"/>
            <a:ext cx="88482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Warning Orange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524658" y="2139553"/>
            <a:ext cx="1226520" cy="407194"/>
          </a:xfrm>
          <a:prstGeom prst="rect">
            <a:avLst/>
          </a:prstGeom>
          <a:noFill/>
          <a:ln/>
        </p:spPr>
        <p:txBody>
          <a:bodyPr wrap="non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(217, 119, 6)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751179" y="2139553"/>
            <a:ext cx="1964196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UPDATE actions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143375" y="2684264"/>
            <a:ext cx="64148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Danger Red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524658" y="2546747"/>
            <a:ext cx="1226520" cy="407194"/>
          </a:xfrm>
          <a:prstGeom prst="rect">
            <a:avLst/>
          </a:prstGeom>
          <a:noFill/>
          <a:ln/>
        </p:spPr>
        <p:txBody>
          <a:bodyPr wrap="non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(239, 68, 68)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751179" y="2546747"/>
            <a:ext cx="1964196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DELETE, Logout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143375" y="3091458"/>
            <a:ext cx="35568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Purple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524658" y="2953941"/>
            <a:ext cx="1226520" cy="407194"/>
          </a:xfrm>
          <a:prstGeom prst="rect">
            <a:avLst/>
          </a:prstGeom>
          <a:noFill/>
          <a:ln/>
        </p:spPr>
        <p:txBody>
          <a:bodyPr wrap="non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(168, 85, 247)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751179" y="2953941"/>
            <a:ext cx="1964196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Report &amp; Analysis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771900" y="3593306"/>
            <a:ext cx="49434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Typography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771900" y="3904059"/>
            <a:ext cx="4943475" cy="42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Segoe UI font family</a:t>
            </a:r>
            <a:r>
              <a:rPr lang="en-US" sz="9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— 16–20px Bold for headers, 9px Regular for body text, 9–11px </a:t>
            </a:r>
            <a:r>
              <a:rPr lang="en-US" sz="9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Bold for buttons.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3057525" cy="2640174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UMS 2026 Delivers a Complete, Production-Ready University Management Solution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3440274"/>
            <a:ext cx="3057525" cy="1143000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UMS 2026 is a fully functional, well-structured university management system that demonstrates strong software engineering principles and a polished user experience.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771900" y="571500"/>
            <a:ext cx="2328863" cy="267891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Technical Strengths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771900" y="982266"/>
            <a:ext cx="23288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Clean three-tier architecture with Entity Framework ORM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771900" y="1416583"/>
            <a:ext cx="23288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Consistent CRUD operations across all eight management modules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771900" y="1850901"/>
            <a:ext cx="23288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Real-time conflict detection in the scheduling module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771900" y="2285219"/>
            <a:ext cx="23288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Dynamic chart generation for data analytics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771900" y="2719536"/>
            <a:ext cx="23288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Secure authentication with role-based user model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386513" y="571500"/>
            <a:ext cx="2328863" cy="267891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Design Strengths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86513" y="982266"/>
            <a:ext cx="23288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Semantic color coding for intuitive navigation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386513" y="1416583"/>
            <a:ext cx="23288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Standardized form layout reduces learning curve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386513" y="1850901"/>
            <a:ext cx="23288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Professional enterprise-grade visual design system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386513" y="2285219"/>
            <a:ext cx="23288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4A7B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Responsive hover effects and hand cursors for usability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771900" y="4761309"/>
            <a:ext cx="49434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2F4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Built With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771900" y="5011341"/>
            <a:ext cx="49434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EA580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C# · .NET 4.7.2 · Windows Forms · SQL Server · Entity Framework · MaterialSkin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2026-06-24T18:56:12Z</dcterms:created>
  <dcterms:modified xsi:type="dcterms:W3CDTF">2026-06-24T18:56:12Z</dcterms:modified>
</cp:coreProperties>
</file>